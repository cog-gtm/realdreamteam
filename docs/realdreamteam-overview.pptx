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111827"/>
                </a:solidFill>
                <a:latin typeface="Arial"/>
              </a:rPr>
              <a:t>Real Dream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5B677D"/>
                </a:solidFill>
                <a:latin typeface="Arial"/>
              </a:rPr>
              <a:t>The team's internal auction app — enter the site code, pick your name, and every lot </a:t>
            </a:r>
            <a:r>
              <a:rPr sz="1500" b="0" i="1">
                <a:solidFill>
                  <a:srgbClr val="5B677D"/>
                </a:solidFill>
                <a:latin typeface="Arial"/>
              </a:rPr>
              <a:t>you</a:t>
            </a:r>
            <a:r>
              <a:rPr sz="1500" b="0" i="0">
                <a:solidFill>
                  <a:srgbClr val="5B677D"/>
                </a:solidFill>
                <a:latin typeface="Arial"/>
              </a:rPr>
              <a:t> care about finds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1960" y="2880360"/>
            <a:ext cx="640080" cy="31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Real Dream Team · Auction app</a:t>
            </a:r>
            <a:r>
              <a:rPr sz="1100" b="0" i="0">
                <a:solidFill>
                  <a:srgbClr val="111827"/>
                </a:solidFill>
                <a:latin typeface="Arial"/>
              </a:rPr>
              <a:t> — Mark Porter + Devin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Courier New"/>
              </a:rPr>
              <a:t>github.com/COG-GTM/realdreamteam · rdt-auction.marklovestech.com · 20 PRs · Sep 14–15,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945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Internal · Cognition GTM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75945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4F5F8F"/>
                </a:solidFill>
                <a:latin typeface="Courier New"/>
              </a:rPr>
              <a:t>THE ORIGINAL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11827"/>
                </a:solidFill>
                <a:latin typeface="Arial"/>
              </a:rPr>
              <a:t>A live auction app for the team, built in under 12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B677D"/>
                </a:solidFill>
                <a:latin typeface="Arial"/>
              </a:rPr>
              <a:t>One always-on URL the whole team can open at once — bid against each other, get matched to lots they care about, and watch an auction close live during the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26060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3774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Who it is for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The Real Dream Team — 28 team members signing in from their own browsers with one shared site code and a name picker. Admins hold a second code.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Nothing runs on a laptop: one Node process on EC2 plus a shared Supabase Postgres, both up 24/7.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463040"/>
            <a:ext cx="2651760" cy="26060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600200"/>
            <a:ext cx="23774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Must-have scope (the 8 demo beats)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•  Access code → user picker → summary with Matches + Discover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•  Preferences change → matches change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•  Browse auctions and lot detail with bid history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•  Two users bid on one lot; low bids rejected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•  Admin adds a lot → matching users get notified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•  Outbid notification; History of bids and favorites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•  Auction closes → SOLD, hammer price, sound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2651760" cy="26060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600200"/>
            <a:ext cx="23774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Definition of done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Node 20 · Express · EJS · pg, ~6 dependencies, no build step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Data model frozen in db/schema.sql (#34)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Each step = one reviewed PR with screenshots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Deployed behind a public URL under systemd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77D"/>
                </a:solidFill>
                <a:latin typeface="Arial"/>
              </a:rPr>
              <a:t>Left out on purpose: search, pagination, lot editing, realtime push.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B677D"/>
                </a:solidFill>
                <a:latin typeface="Arial"/>
              </a:rPr>
              <a:t>Shipped the plan and then some: 250 seeded lots across 8 auctions, a 5 s poller that closes auctions on time, Caddy TLS in front, and session cookies that re-ask for the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945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75945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4F5F8F"/>
                </a:solidFill>
                <a:latin typeface="Courier New"/>
              </a:rPr>
              <a:t>THE PRODUCT · LIVE AT RDT-AUCTION.MARKLOVESTECH.COM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11827"/>
                </a:solidFill>
                <a:latin typeface="Arial"/>
              </a:rPr>
              <a:t>The auction app,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74903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11827"/>
                </a:solidFill>
                <a:latin typeface="Arial"/>
              </a:rPr>
              <a:t>Sign in</a:t>
            </a:r>
            <a:r>
              <a:rPr sz="1050" b="0" i="0">
                <a:solidFill>
                  <a:srgbClr val="111827"/>
                </a:solidFill>
                <a:latin typeface="Arial"/>
              </a:rPr>
              <a:t> with the site code, then pick your name.</a:t>
            </a: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11827"/>
                </a:solidFill>
                <a:latin typeface="Arial"/>
              </a:rPr>
              <a:t>Summary</a:t>
            </a:r>
            <a:r>
              <a:rPr sz="1050" b="0" i="0">
                <a:solidFill>
                  <a:srgbClr val="111827"/>
                </a:solidFill>
                <a:latin typeface="Arial"/>
              </a:rPr>
              <a:t> shows Notifications, “Matches your interests”, and Discover — 5 random open lots, fresh on every refresh.</a:t>
            </a: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11827"/>
                </a:solidFill>
                <a:latin typeface="Arial"/>
              </a:rPr>
              <a:t>Browse</a:t>
            </a:r>
            <a:r>
              <a:rPr sz="1050" b="0" i="0">
                <a:solidFill>
                  <a:srgbClr val="111827"/>
                </a:solidFill>
                <a:latin typeface="Arial"/>
              </a:rPr>
              <a:t> auctions and lots, ★ favorite, and place whole-number bids that must beat the current high bid.</a:t>
            </a: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11827"/>
                </a:solidFill>
                <a:latin typeface="Arial"/>
              </a:rPr>
              <a:t>Matching</a:t>
            </a:r>
            <a:r>
              <a:rPr sz="1050" b="0" i="0">
                <a:solidFill>
                  <a:srgbClr val="111827"/>
                </a:solidFill>
                <a:latin typeface="Arial"/>
              </a:rPr>
              <a:t> by category, artist or keyword, with “why it matched” chips on every card.</a:t>
            </a: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11827"/>
                </a:solidFill>
                <a:latin typeface="Arial"/>
              </a:rPr>
              <a:t>Auction close</a:t>
            </a:r>
            <a:r>
              <a:rPr sz="1050" b="0" i="0">
                <a:solidFill>
                  <a:srgbClr val="111827"/>
                </a:solidFill>
                <a:latin typeface="Arial"/>
              </a:rPr>
              <a:t> → SOLD ribbon, hammer price, winner, a sound, and Won/Lost notifications for every bidder.</a:t>
            </a: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11827"/>
                </a:solidFill>
                <a:latin typeface="Arial"/>
              </a:rPr>
              <a:t>/admin</a:t>
            </a:r>
            <a:r>
              <a:rPr sz="1050" b="0" i="0">
                <a:solidFill>
                  <a:srgbClr val="111827"/>
                </a:solidFill>
                <a:latin typeface="Arial"/>
              </a:rPr>
              <a:t> (second code): add lots, edit close times, close/reopen auctions, ban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B677D"/>
                </a:solidFill>
                <a:latin typeface="Arial"/>
              </a:rPr>
              <a:t>Lot images are hotlinked from Wikimedia Commons; all state lives in Postgres.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23360"/>
            <a:ext cx="1554480" cy="329184"/>
          </a:xfrm>
          <a:prstGeom prst="roundRect">
            <a:avLst>
              <a:gd name="adj" fmla="val 3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Open the app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4087368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B677D"/>
                </a:solidFill>
                <a:latin typeface="Courier New"/>
              </a:rPr>
              <a:t>auction-app/ · npm start</a:t>
            </a:r>
          </a:p>
        </p:txBody>
      </p:sp>
      <p:pic>
        <p:nvPicPr>
          <p:cNvPr id="8" name="Picture 7" descr="mockup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651" y="1051560"/>
            <a:ext cx="3204057" cy="3337559"/>
          </a:xfrm>
          <a:prstGeom prst="rect">
            <a:avLst/>
          </a:prstGeom>
          <a:ln w="9525">
            <a:solidFill>
              <a:srgbClr val="E3E7E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480559" y="4434840"/>
            <a:ext cx="420624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docs/mockup-summary.html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945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Demo · github.com/COG-GTM/realdreamteam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75945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4F5F8F"/>
                </a:solidFill>
                <a:latin typeface="Courier New"/>
              </a:rPr>
              <a:t>HOW IT RUNS · THREE MOVING PARTS, ALL ALWAYS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11827"/>
                </a:solidFill>
                <a:latin typeface="Arial"/>
              </a:rPr>
              <a:t>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599" cy="1659001"/>
          </a:xfrm>
          <a:prstGeom prst="rect">
            <a:avLst/>
          </a:prstGeom>
          <a:ln w="9525">
            <a:solidFill>
              <a:srgbClr val="E3E7E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271576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docs/architecture.mmd · rendered with mermaid-cli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71800"/>
            <a:ext cx="404622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37719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Stack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Node.js 20 + Express + EJS + hand-written SQL (pg)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No build step, no frontend framework, no API layer — the server renders HTML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Stateless Node process under systemd, with a 5 s poller that closes auctions on time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State only in Postgres; npm run db:reset reloads data/seed/*.json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0580" y="2971800"/>
            <a:ext cx="404622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7740" y="3108960"/>
            <a:ext cx="37719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Request flow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IONOS DNS → EC2 instance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Caddy terminates TLS on 80/443 (Let’s Encrypt) → Node on :3000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Node runs a few SQL queries against Supabase Postgres → plain HTML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11827"/>
                </a:solidFill>
                <a:latin typeface="Arial"/>
              </a:rPr>
              <a:t>•  Browser fetches lot images straight from Wikimedia Commons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945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75945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4F5F8F"/>
                </a:solidFill>
                <a:latin typeface="Courier New"/>
              </a:rPr>
              <a:t>HOW WE DELEGATED · ONE DEVIN SESSION PER CONCERN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11827"/>
                </a:solidFill>
                <a:latin typeface="Arial"/>
              </a:rPr>
              <a:t>One builder, eight Devin sessions, twenty PRs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975104" cy="13258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755648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11827"/>
                </a:solidFill>
                <a:latin typeface="Arial"/>
              </a:rPr>
              <a:t>Design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v1 design, build design, mockups; decided the 8 demo beats and the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20824"/>
            <a:ext cx="24688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75588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1005840"/>
            <a:ext cx="1975104" cy="13258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115568"/>
            <a:ext cx="1755648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11827"/>
                </a:solidFill>
                <a:latin typeface="Arial"/>
              </a:rPr>
              <a:t>Data Model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Frozen Postgres schema (9 tables), schema-review changes, auction-house survey.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0380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#39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1005840"/>
            <a:ext cx="1975104" cy="13258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115568"/>
            <a:ext cx="1755648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11827"/>
                </a:solidFill>
                <a:latin typeface="Arial"/>
              </a:rPr>
              <a:t>Backend database work · RDT Synthetic Data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Supabase setup; 4 houses, 28 users, 8 auctions, 250 lots with images, bids, favorites.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6592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5212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#47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13832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#41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11696" y="1005840"/>
            <a:ext cx="1975104" cy="13258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1424" y="1115568"/>
            <a:ext cx="1755648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11827"/>
                </a:solidFill>
                <a:latin typeface="Arial"/>
              </a:rPr>
              <a:t>Permissions &amp; access · RDT-Quality · RDT-Security · Links &amp; References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Access codes and session cookies, review passes, secrets moved to a private note, session index.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21424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#51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0044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#52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98664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#53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87284" y="2020824"/>
            <a:ext cx="315468" cy="20116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F457A"/>
                </a:solidFill>
                <a:latin typeface="Arial"/>
              </a:rPr>
              <a:t>#59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468880"/>
            <a:ext cx="8229600" cy="21717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606040"/>
            <a:ext cx="7955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11827"/>
                </a:solidFill>
                <a:latin typeface="Arial"/>
              </a:rPr>
              <a:t>Execution — every change landed as a reviewed PR into </a:t>
            </a:r>
            <a:r>
              <a:rPr sz="1000" b="1" i="0">
                <a:solidFill>
                  <a:srgbClr val="2F457A"/>
                </a:solidFill>
                <a:latin typeface="Courier New"/>
              </a:rPr>
              <a:t>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2880360"/>
            <a:ext cx="7955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B677D"/>
                </a:solidFill>
                <a:latin typeface="Courier New"/>
              </a:rPr>
              <a:t>devin/* branches · feature:/bug: commits + screenshots · opened by devin-ai-integration[bot] · reviewed &amp; merged by CognitionMark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12724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5B677D"/>
                </a:solidFill>
                <a:latin typeface="Courier New"/>
              </a:rPr>
              <a:t>WHEN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127248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5B677D"/>
                </a:solidFill>
                <a:latin typeface="Courier New"/>
              </a:rPr>
              <a:t>PRS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3127248"/>
            <a:ext cx="4937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5B677D"/>
                </a:solidFill>
                <a:latin typeface="Courier New"/>
              </a:rPr>
              <a:t>WHAT CHANGED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310128"/>
            <a:ext cx="7955280" cy="9525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346704"/>
            <a:ext cx="14173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Arial"/>
              </a:rPr>
              <a:t>Sep 14, 15:59–18:43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3346704"/>
            <a:ext cx="1600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Arial"/>
              </a:rPr>
              <a:t>#1–#3, #17, #18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3346704"/>
            <a:ext cx="4937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Static site, v1 design proposal, review fixes, mock seed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557016"/>
            <a:ext cx="7955280" cy="9525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593592"/>
            <a:ext cx="14173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Arial"/>
              </a:rPr>
              <a:t>Sep 14, 21:18–23:25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3593592"/>
            <a:ext cx="1600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Arial"/>
              </a:rPr>
              <a:t>#22, #20, #34, #39, #36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3593592"/>
            <a:ext cx="4937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v2 schema, summary mockup, Postgres data model, build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803904"/>
            <a:ext cx="7955280" cy="9525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3840480"/>
            <a:ext cx="14173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Arial"/>
              </a:rPr>
              <a:t>Sep 15, 00:20–00:33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3840480"/>
            <a:ext cx="1600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Arial"/>
              </a:rPr>
              <a:t>#47, #51, #41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3840480"/>
            <a:ext cx="4937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Full seed data, session index, the app itself (scaffold, summary, bidding, admin, poller)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4050792"/>
            <a:ext cx="7955280" cy="9525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087368"/>
            <a:ext cx="14173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Arial"/>
              </a:rPr>
              <a:t>Sep 15, 00:37–01:00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4087368"/>
            <a:ext cx="1600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Arial"/>
              </a:rPr>
              <a:t>#52, #53, #55, #56, #57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4087368"/>
            <a:ext cx="4937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Secrets out of the repo, Caddy TLS, README + architecture, static site removed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4297680"/>
            <a:ext cx="7955280" cy="9525"/>
          </a:xfrm>
          <a:prstGeom prst="rect">
            <a:avLst/>
          </a:prstGeom>
          <a:solidFill>
            <a:srgbClr val="EE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334256"/>
            <a:ext cx="14173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Arial"/>
              </a:rPr>
              <a:t>Sep 15, 01:19–08:57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4334256"/>
            <a:ext cx="1600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B677D"/>
                </a:solidFill>
                <a:latin typeface="Arial"/>
              </a:rPr>
              <a:t>#59, #63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11880" y="4334256"/>
            <a:ext cx="49377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11827"/>
                </a:solidFill>
                <a:latin typeface="Arial"/>
              </a:rPr>
              <a:t>Session cookies + Sign out; “Portrait of Devin” lot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75945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Delegation &amp; execution · 20 of 20 PRs merged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75945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4F5F8F"/>
                </a:solidFill>
                <a:latin typeface="Courier New"/>
              </a:rPr>
              <a:t>NEXT STEPS · 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11827"/>
                </a:solidFill>
                <a:latin typeface="Arial"/>
              </a:rPr>
              <a:t>From a demo-night build to something the team keeps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046220" cy="210312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37719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1 · Own the images</a:t>
            </a:r>
          </a:p>
          <a:p>
            <a:pPr algn="l">
              <a:spcAft>
                <a:spcPts val="100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Lot images are hotlinked from Wikimedia/Wikipedia today. Upload them to the Supabase lots bucket (needs a service-role key) before treating the deployment as public.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2 · Real avatars and local time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Seed users still use gravatar fallbacks (#42) and times render in UTC rather than US Central (#45).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40580" y="1005840"/>
            <a:ext cx="4046220" cy="210312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7740" y="1143000"/>
            <a:ext cx="37719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3 · Bring back the deferred v1 features</a:t>
            </a:r>
          </a:p>
          <a:p>
            <a:pPr algn="l">
              <a:spcAft>
                <a:spcPts val="100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Search and filters, pagination, lot edit/delete, and realtime updates instead of refresh were all cut on purpose for the demo window.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4 · Slack notifications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The in-app feed is the source of truth; the Slack webhook is wired but optional. Turn it on for new-lot and outbid events once the channel is agreed.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46120"/>
            <a:ext cx="8229600" cy="8686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9525">
            <a:solidFill>
              <a:srgbClr val="E3E7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7955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What has to come with it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11827"/>
                </a:solidFill>
                <a:latin typeface="Arial"/>
              </a:rPr>
              <a:t>Infrastructure details stay in the private “RDT infrastructure access” knowledge note and the org secrets (AUCTION_DATABASE_URL, AUCTION_DATABASE_PASSWORD, RDT_EC2_SSH_KEY); the repo has node --test unit tests but no CI yet — the gap today is a PR check that runs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945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Path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75945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 i="0">
                <a:solidFill>
                  <a:srgbClr val="5B677D"/>
                </a:solidFill>
                <a:latin typeface="Courier New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